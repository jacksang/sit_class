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this question. Pause 3 seconds. Let it land. Don't advance to the text yet — say the question first.</a:t>
            </a:r>
          </a:p>
          <a:p>
            <a:r>
              <a:t>&gt;</a:t>
            </a:r>
          </a:p>
          <a:p>
            <a:r>
              <a:t>"Most of you — and I mean most MBA students, most first-year entrepreneurs, most people in general — will do the same thing. You'll research the market. You'll write a business plan. You'll forecast revenue.</a:t>
            </a:r>
          </a:p>
          <a:p>
            <a:r>
              <a:t>&gt;</a:t>
            </a:r>
          </a:p>
          <a:p>
            <a:r>
              <a:t>Here's the thing: that's not how expert entrepreneurs actually think.</a:t>
            </a:r>
          </a:p>
          <a:p>
            <a:r>
              <a:t>&gt;</a:t>
            </a:r>
          </a:p>
          <a:p>
            <a:r>
              <a:t>A professor named Saras Sarasvathy — at the University of Virginia — did something fascinating. She interviewed 27 expert entrepreneurs with 15+ years of experience, multiple successful companies. And she compared their thinking to MBA students.</a:t>
            </a:r>
          </a:p>
          <a:p>
            <a:r>
              <a:t>&gt;</a:t>
            </a:r>
          </a:p>
          <a:p>
            <a:r>
              <a:t>What she found? Expert entrepreneurs don't start with a plan. They start with a question: 'What do I have right now?'"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"Sarasvathy called this contrast causation versus effectuation.</a:t>
            </a:r>
          </a:p>
          <a:p>
            <a:r>
              <a:t>&gt;</a:t>
            </a:r>
          </a:p>
          <a:p>
            <a:r>
              <a:t>The causation path — the one most people take — goes: 'I have a goal. Let me make a plan to achieve it. Then I'll execute.'</a:t>
            </a:r>
          </a:p>
          <a:p>
            <a:r>
              <a:t>&gt;</a:t>
            </a:r>
          </a:p>
          <a:p>
            <a:r>
              <a:t>But expert entrepreneurs use the other path. They start with the means they have and ask: 'What can I create with these means?'</a:t>
            </a:r>
          </a:p>
          <a:p>
            <a:r>
              <a:t>&gt;</a:t>
            </a:r>
          </a:p>
          <a:p>
            <a:r>
              <a:t>Both approaches are valid. Causation is great for predictable situations. But entrepreneurship is deeply unpredictable. And for unpredictable situations, effectuation is not just better — it's the only way that reliably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"Today we go deep on the first two. We'll come back to the other three in Weeks 4, 6, and 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"Let's start with Principle 1: Bird-in-Hand. 'Start with who you are, what you know, and who you know.'</a:t>
            </a:r>
          </a:p>
          <a:p>
            <a:r>
              <a:t>&gt;</a:t>
            </a:r>
          </a:p>
          <a:p>
            <a:r>
              <a:t>Sounds simple — almost obvious. But think about how deeply counterintuitive this is. Every business book tells you: research first, plan first, get money first, then start.</a:t>
            </a:r>
          </a:p>
          <a:p>
            <a:r>
              <a:t>&gt;</a:t>
            </a:r>
          </a:p>
          <a:p>
            <a:r>
              <a:t>Expert entrepreneurs do the opposite. They look in the mirror — and into their phone contacts — and ask: 'What do I already have?'</a:t>
            </a:r>
          </a:p>
          <a:p>
            <a:r>
              <a:t>&gt;</a:t>
            </a:r>
          </a:p>
          <a:p>
            <a:r>
              <a:t>Three categories:</a:t>
            </a:r>
          </a:p>
          <a:p>
            <a:r>
              <a:t>- Who you are: Your skills, experience, personality.</a:t>
            </a:r>
          </a:p>
          <a:p>
            <a:r>
              <a:t>- What you know: The domains, industries, hobbies you genuinely understand.</a:t>
            </a:r>
          </a:p>
          <a:p>
            <a:r>
              <a:t>- Who you know: Your network. Not CEOs of Fortune 500 companies — your classmates, your professors, your family."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"Bird-in-Hand sounds simple. Almost obvious. But it's deeply counterintuitive.</a:t>
            </a:r>
          </a:p>
          <a:p>
            <a:r>
              <a:t>&gt;</a:t>
            </a:r>
          </a:p>
          <a:p>
            <a:r>
              <a:t>Every business textbook tells you: research first, analyze the competition, raise capital, then start. Expert entrepreneurs do the opposite. They look in the mirror — and into their phone contacts — and ask: 'What do I already have?'</a:t>
            </a:r>
          </a:p>
          <a:p>
            <a:r>
              <a:t>&gt;</a:t>
            </a:r>
          </a:p>
          <a:p>
            <a:r>
              <a:t>Nobody starts from zero. You just haven't looked yet."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"Take 30 seconds. Write down answers to these three questions. The answers? Those ARE your starting resources."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 me give you a Singapore example you'll know — Carousell.</a:t>
            </a:r>
          </a:p>
          <a:p>
            <a:r>
              <a:t>&gt;</a:t>
            </a:r>
          </a:p>
          <a:p>
            <a:r>
              <a:t>Three NUS friends: Siu Rui, Marcus, Lucas. Back in 2012.</a:t>
            </a:r>
          </a:p>
          <a:p>
            <a:r>
              <a:t>&gt;</a:t>
            </a:r>
          </a:p>
          <a:p>
            <a:r>
              <a:t>Their Bird-in-Hand profile was remarkably simple:</a:t>
            </a:r>
          </a:p>
          <a:p>
            <a:r>
              <a:t>- Who they were: Mobile developers and designers</a:t>
            </a:r>
          </a:p>
          <a:p>
            <a:r>
              <a:t>- What they knew: Marketplace user experience from previous projects</a:t>
            </a:r>
          </a:p>
          <a:p>
            <a:r>
              <a:t>- Who they knew: NUS classmates who might want to buy and sell stuff on their phones</a:t>
            </a:r>
          </a:p>
          <a:p>
            <a:r>
              <a:t>&gt;</a:t>
            </a:r>
          </a:p>
          <a:p>
            <a:r>
              <a:t>They didn't have venture capital. They didn't have an office. They didn't have a 50-page business plan. What did they have? A weekend, some code, and a network. They built the first version in that weekend.</a:t>
            </a:r>
          </a:p>
          <a:p>
            <a:r>
              <a:t>&gt;</a:t>
            </a:r>
          </a:p>
          <a:p>
            <a:r>
              <a:t>Today Carousell is a $1 billion+ company. But it didn't start that way. It started with what three friends already had in their hands."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 want you to take out your phone — or grab a piece of paper. One question. 60 seconds.</a:t>
            </a:r>
          </a:p>
          <a:p>
            <a:r>
              <a:t>&gt;</a:t>
            </a:r>
          </a:p>
          <a:p>
            <a:r>
              <a:t>'What is ONE resource you have right now — one skill, one connection, anything — that could be the starting point of a venture?'</a:t>
            </a:r>
          </a:p>
          <a:p>
            <a:r>
              <a:t>&gt;</a:t>
            </a:r>
          </a:p>
          <a:p>
            <a:r>
              <a:t>It doesn't have to be a billion-dollar idea. It doesn't have to be sexy. It just has to be real.</a:t>
            </a:r>
          </a:p>
          <a:p>
            <a:r>
              <a:t>&gt;</a:t>
            </a:r>
          </a:p>
          <a:p>
            <a:r>
              <a:t>60 seconds. Go."</a:t>
            </a:r>
          </a:p>
          <a:p>
            <a:r>
              <a:t>&gt;</a:t>
            </a:r>
          </a:p>
          <a:p>
            <a:r>
              <a:t>At 30s: "Thirty seconds — if you're stuck, think about the last thing a friend asked you to help them with."</a:t>
            </a:r>
          </a:p>
          <a:p>
            <a:r>
              <a:t>At 10s: "Ten seconds — push yourself to write something down."</a:t>
            </a:r>
          </a:p>
          <a:p>
            <a:r>
              <a:t>At time: "OK, time's up. Hold onto that."</a:t>
            </a:r>
          </a:p>
          <a:p>
            <a:r>
              <a:t>&gt;</a:t>
            </a:r>
          </a:p>
          <a:p>
            <a:r>
              <a:t>Ask 1-2 people to share if comfortable. Otherwise, share your own example. Then: "Nobody wrote 'I have nothing.' That's the point."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"Bird-in-Hand sounds nice in theory. But there's always that voice in the room...</a:t>
            </a:r>
          </a:p>
          <a:p>
            <a:r>
              <a:t>&gt;</a:t>
            </a:r>
          </a:p>
          <a:p>
            <a:r>
              <a:t>'What if I lose everything I have?'</a:t>
            </a:r>
          </a:p>
          <a:p>
            <a:r>
              <a:t>&gt;</a:t>
            </a:r>
          </a:p>
          <a:p>
            <a:r>
              <a:t>That's the question that stops most people from starting. And it's completely fair.</a:t>
            </a:r>
          </a:p>
          <a:p>
            <a:r>
              <a:t>&gt;</a:t>
            </a:r>
          </a:p>
          <a:p>
            <a:r>
              <a:t>So let me address it head-on — with Principle Number Two."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a myth about entrepreneurs: they're fearless risk-takers. They bet the house. They go all in.</a:t>
            </a:r>
          </a:p>
          <a:p>
            <a:r>
              <a:t>&gt;</a:t>
            </a:r>
          </a:p>
          <a:p>
            <a:r>
              <a:t>That makes a great movie. But it's terrible business.</a:t>
            </a:r>
          </a:p>
          <a:p>
            <a:r>
              <a:t>&gt;</a:t>
            </a:r>
          </a:p>
          <a:p>
            <a:r>
              <a:t>Expert entrepreneurs are actually very careful about risk. Very deliberate. They just calculate risk differently than you might expect."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"Principle two: Affordable Loss. 'Invest only what you can afford to lose.'</a:t>
            </a:r>
          </a:p>
          <a:p>
            <a:r>
              <a:t>&gt;</a:t>
            </a:r>
          </a:p>
          <a:p>
            <a:r>
              <a:t>The traditional approach is: 'How much could I make?' If the projected return is big enough, go for it.</a:t>
            </a:r>
          </a:p>
          <a:p>
            <a:r>
              <a:t>&gt;</a:t>
            </a:r>
          </a:p>
          <a:p>
            <a:r>
              <a:t>That's how people end up spending $50,000 on a business that fails. Because the projected returns looked amazing — but the downside was real.</a:t>
            </a:r>
          </a:p>
          <a:p>
            <a:r>
              <a:t>&gt;</a:t>
            </a:r>
          </a:p>
          <a:p>
            <a:r>
              <a:t>Expert entrepreneurs flip the question. They ask: 'What's the most I could lose?'</a:t>
            </a:r>
          </a:p>
          <a:p>
            <a:r>
              <a:t>&gt;</a:t>
            </a:r>
          </a:p>
          <a:p>
            <a:r>
              <a:t>They calculate the worst case. If they can survive it, they go ahead. If they can't, they don't.</a:t>
            </a:r>
          </a:p>
          <a:p>
            <a:r>
              <a:t>&gt;</a:t>
            </a:r>
          </a:p>
          <a:p>
            <a:r>
              <a:t>This is not risk aversion. This is intelligent risk-taking."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"James Dyson. 5,127 failed prototypes over 15 years before the first working Dyson vacuum in 1993.</a:t>
            </a:r>
          </a:p>
          <a:p>
            <a:r>
              <a:t>&gt;</a:t>
            </a:r>
          </a:p>
          <a:p>
            <a:r>
              <a:t>Source: Dyson himself confirmed this in multiple interviews (NYMag 2016, Gizmodo 2011).</a:t>
            </a:r>
          </a:p>
          <a:p>
            <a:r>
              <a:t>&gt;</a:t>
            </a:r>
          </a:p>
          <a:p>
            <a:r>
              <a:t>Most people hear that story and think: 'He never gave up.' But the real lesson is subtler.</a:t>
            </a:r>
          </a:p>
          <a:p>
            <a:r>
              <a:t>&gt;</a:t>
            </a:r>
          </a:p>
          <a:p>
            <a:r>
              <a:t>Each prototype cost Dyson a small, survivable amount. He never bet the farm on prototype #1. He bet small, learned, iterated.</a:t>
            </a:r>
          </a:p>
          <a:p>
            <a:r>
              <a:t>&gt;</a:t>
            </a:r>
          </a:p>
          <a:p>
            <a:r>
              <a:t>That's why he could fail 5,126 times and still be standing to try again. Affordable Loss isn't about avoiding risk — it's about making risk survivable."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a student-level Affordable Loss story.</a:t>
            </a:r>
          </a:p>
          <a:p>
            <a:r>
              <a:t>&gt;</a:t>
            </a:r>
          </a:p>
          <a:p>
            <a:r>
              <a:t>In 2008, Airbnb's founders had $40,000 in credit card debt. Every investor in San Francisco said no.</a:t>
            </a:r>
          </a:p>
          <a:p>
            <a:r>
              <a:t>&gt;</a:t>
            </a:r>
          </a:p>
          <a:p>
            <a:r>
              <a:t>Their move: they bought $20 worth of cereal, designed boxes called 'Obama O's,' and sold them at the Democratic Convention for $40 each. Each box cost less than $5 to make. The downside was nothing.</a:t>
            </a:r>
          </a:p>
          <a:p>
            <a:r>
              <a:t>&gt;</a:t>
            </a:r>
          </a:p>
          <a:p>
            <a:r>
              <a:t>They raised $30,000 — enough to survive another three months. That small, survivable bet is what kept Airbnb alive to become a $100 billion company."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"And a Singapore example — Grab.</a:t>
            </a:r>
          </a:p>
          <a:p>
            <a:r>
              <a:t>&gt;</a:t>
            </a:r>
          </a:p>
          <a:p>
            <a:r>
              <a:t>Anthony Tan didn't try to build a super-app on day one.</a:t>
            </a:r>
          </a:p>
          <a:p>
            <a:r>
              <a:t>&gt;</a:t>
            </a:r>
          </a:p>
          <a:p>
            <a:r>
              <a:t>He started with one taxi driver, one airport route, and a simple app. The affordable loss was tiny: weekends, a prototype, one driver who trusted him.</a:t>
            </a:r>
          </a:p>
          <a:p>
            <a:r>
              <a:t>&gt;</a:t>
            </a:r>
          </a:p>
          <a:p>
            <a:r>
              <a:t>Only after proving demand on that single route did he start scaling. That's the discipline of Affordable Loss — cap the downside first, then grow."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"Same exercise. 60 seconds. Write down your answer.</a:t>
            </a:r>
          </a:p>
          <a:p>
            <a:r>
              <a:t>&gt;</a:t>
            </a:r>
          </a:p>
          <a:p>
            <a:r>
              <a:t>'What's the MOST you could invest — in money, time, or ego — without it actually hurting you?'</a:t>
            </a:r>
          </a:p>
          <a:p>
            <a:r>
              <a:t>&gt;</a:t>
            </a:r>
          </a:p>
          <a:p>
            <a:r>
              <a:t>Be honest. Not aspirational. If you can only afford $50 and 2 hours a week, write that. That's your Affordable Loss."</a:t>
            </a:r>
          </a:p>
          <a:p>
            <a:r>
              <a:t>&gt;</a:t>
            </a:r>
          </a:p>
          <a:p>
            <a:r>
              <a:t>At 30s: "Thirty seconds — no judgment, just honest numbers."</a:t>
            </a:r>
          </a:p>
          <a:p>
            <a:r>
              <a:t>At 10s: "Ten seconds — write it down."</a:t>
            </a:r>
          </a:p>
          <a:p>
            <a:r>
              <a:t>At time: "OK. Now turn to the person next to you — 30 seconds each — share your Affordable Loss number."</a:t>
            </a:r>
          </a:p>
          <a:p>
            <a:r>
              <a:t>&gt;</a:t>
            </a:r>
          </a:p>
          <a:p>
            <a:r>
              <a:t>"Here's the magic: when you define your affordable loss, you become free to take risks. Because you've already answered the scary question: 'What's the worst that can happen?' And you know you can survive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the thing about Affordable Loss — there's no universal number.</a:t>
            </a:r>
          </a:p>
          <a:p>
            <a:r>
              <a:t>&gt;</a:t>
            </a:r>
          </a:p>
          <a:p>
            <a:r>
              <a:t>Someone in this room might have $5,000 they can afford to risk. Someone else might have $50. Both are valid.</a:t>
            </a:r>
          </a:p>
          <a:p>
            <a:r>
              <a:t>&gt;</a:t>
            </a:r>
          </a:p>
          <a:p>
            <a:r>
              <a:t>The point isn't the number. The point is knowing your number.</a:t>
            </a:r>
          </a:p>
          <a:p>
            <a:r>
              <a:t>&gt;</a:t>
            </a:r>
          </a:p>
          <a:p>
            <a:r>
              <a:t>Money: whatever you can lose without losing sleep.</a:t>
            </a:r>
          </a:p>
          <a:p>
            <a:r>
              <a:t>Time: whatever you can give without grades suffering.</a:t>
            </a:r>
          </a:p>
          <a:p>
            <a:r>
              <a:t>Ego: whatever discomfort you can handle without giving up.</a:t>
            </a:r>
          </a:p>
          <a:p>
            <a:r>
              <a:t>&gt;</a:t>
            </a:r>
          </a:p>
          <a:p>
            <a:r>
              <a:t>When you define YOUR affordable loss — whether it's $50 or $5,000 — something shifts. You stop worrying about the worst case because you've already mapped it out. And you know you can survive it.</a:t>
            </a:r>
          </a:p>
          <a:p>
            <a:r>
              <a:t>&gt;</a:t>
            </a:r>
          </a:p>
          <a:p>
            <a:r>
              <a:t>That's when you become free to start."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"Now — put these two principles together.</a:t>
            </a:r>
          </a:p>
          <a:p>
            <a:r>
              <a:t>&gt;</a:t>
            </a:r>
          </a:p>
          <a:p>
            <a:r>
              <a:t>Bird-in-Hand tells you: 'Look at what you already have.'</a:t>
            </a:r>
          </a:p>
          <a:p>
            <a:r>
              <a:t>Affordable Loss tells you: 'Here's what you can safely risk.'</a:t>
            </a:r>
          </a:p>
          <a:p>
            <a:r>
              <a:t>&gt;</a:t>
            </a:r>
          </a:p>
          <a:p>
            <a:r>
              <a:t>Put them together and you get a powerful permission slip: 'I can start now, with what I have, without risking more than I can handle.'</a:t>
            </a:r>
          </a:p>
          <a:p>
            <a:r>
              <a:t>&gt;</a:t>
            </a:r>
          </a:p>
          <a:p>
            <a:r>
              <a:t>That's it. That's the entire foundation of the entrepreneurial mindset we're building in this course.</a:t>
            </a:r>
          </a:p>
          <a:p>
            <a:r>
              <a:t>&gt;</a:t>
            </a:r>
          </a:p>
          <a:p>
            <a:r>
              <a:t>Everything else this semester — design thinking, customer discovery, MVP building, pitching — builds on this foundation."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 me quickly recap what we covered today.</a:t>
            </a:r>
          </a:p>
          <a:p>
            <a:r>
              <a:t>&gt;</a:t>
            </a:r>
          </a:p>
          <a:p>
            <a:r>
              <a:t>Sarasvathy discovered 5 effectuation principles. Today we went deep on the first two — Bird-in-Hand and Affordable Loss — because they're the foundation.</a:t>
            </a:r>
          </a:p>
          <a:p>
            <a:r>
              <a:t>&gt;</a:t>
            </a:r>
          </a:p>
          <a:p>
            <a:r>
              <a:t>Bird-in-Hand: Start with what you have. Carousell — three friends, a weekend, zero dollars.</a:t>
            </a:r>
          </a:p>
          <a:p>
            <a:r>
              <a:t>&gt;</a:t>
            </a:r>
          </a:p>
          <a:p>
            <a:r>
              <a:t>Affordable Loss: Cap the downside. Dyson — 5,127 prototypes, each one survivable.</a:t>
            </a:r>
          </a:p>
          <a:p>
            <a:r>
              <a:t>&gt;</a:t>
            </a:r>
          </a:p>
          <a:p>
            <a:r>
              <a:t>And you — you built your own Effectual Profile. You know your starting resources and your risk limits right now.</a:t>
            </a:r>
          </a:p>
          <a:p>
            <a:r>
              <a:t>&gt;</a:t>
            </a:r>
          </a:p>
          <a:p>
            <a:r>
              <a:t>The remaining three principles — Crazy Quilt, Lemonade, Pilot-in-the-Plane — we'll cover in Weeks 4, 6, and 8. Spiral curriculum — revisit concepts at increasing depth."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"If you remember nothing else from today, remember this one sentence.</a:t>
            </a:r>
          </a:p>
          <a:p>
            <a:r>
              <a:t>&gt;</a:t>
            </a:r>
          </a:p>
          <a:p>
            <a:r>
              <a:t>Don't ask: 'What do I NEED?'</a:t>
            </a:r>
          </a:p>
          <a:p>
            <a:r>
              <a:t>&gt;</a:t>
            </a:r>
          </a:p>
          <a:p>
            <a:r>
              <a:t>Ask: 'What do I HAVE?'</a:t>
            </a:r>
          </a:p>
          <a:p>
            <a:r>
              <a:t>&gt;</a:t>
            </a:r>
          </a:p>
          <a:p>
            <a:r>
              <a:t>That one shift — from scarcity to resourcefulness — is what separates people who never start from people who actually do."</a:t>
            </a:r>
          </a:p>
          <a:p>
            <a:r>
              <a:t>&gt;</a:t>
            </a:r>
          </a:p>
          <a:p>
            <a:r>
              <a:t>(Pause. Let it sink.)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"Next week: Design Thinking. We learn how to find problems worth solving — Stanford d.school's 5-stage model. Mini design sprint on a real campus problem.</a:t>
            </a:r>
          </a:p>
          <a:p>
            <a:r>
              <a:t>&gt;</a:t>
            </a:r>
          </a:p>
          <a:p>
            <a:r>
              <a:t>Homework: Apply one effectuation principle to a decision you made this week. 250 words. Submit via LMS.</a:t>
            </a:r>
          </a:p>
          <a:p>
            <a:r>
              <a:t>&gt;</a:t>
            </a:r>
          </a:p>
          <a:p>
            <a:r>
              <a:t>Reading: Sarasvathy's HBR article.</a:t>
            </a:r>
          </a:p>
          <a:p>
            <a:r>
              <a:t>&gt;</a:t>
            </a:r>
          </a:p>
          <a:p>
            <a:r>
              <a:t>Start finding teammates with different skills — finalize teams by Week 3."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"Thank you for your time. Don't ask what you need — ask what you have. I'm happy to take your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"Principle three: Crazy Quilt.</a:t>
            </a:r>
          </a:p>
          <a:p>
            <a:r>
              <a:t>&gt;</a:t>
            </a:r>
          </a:p>
          <a:p>
            <a:r>
              <a:t>The traditional entrepreneur thinks: 'I need to own everything. I build my own factory, my own logistics, my own software.'</a:t>
            </a:r>
          </a:p>
          <a:p>
            <a:r>
              <a:t>&gt;</a:t>
            </a:r>
          </a:p>
          <a:p>
            <a:r>
              <a:t>Expert entrepreneurs think differently. They look for partners who already have what they need — even if those partners seem like competitors at first.</a:t>
            </a:r>
          </a:p>
          <a:p>
            <a:r>
              <a:t>&gt;</a:t>
            </a:r>
          </a:p>
          <a:p>
            <a:r>
              <a:t>The question shifts from 'who can I beat?' to 'who can help me?'"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"Why does Crazy Quilt matter? Four reasons.</a:t>
            </a:r>
          </a:p>
          <a:p>
            <a:r>
              <a:t>&gt;</a:t>
            </a:r>
          </a:p>
          <a:p>
            <a:r>
              <a:t>Speed — partners bring existing resources. You skip the building phase and go straight to value creation.</a:t>
            </a:r>
          </a:p>
          <a:p>
            <a:r>
              <a:t>&gt;</a:t>
            </a:r>
          </a:p>
          <a:p>
            <a:r>
              <a:t>Shared risk — each partner invests a bit. Everyone's affordable loss stays small.</a:t>
            </a:r>
          </a:p>
          <a:p>
            <a:r>
              <a:t>&gt;</a:t>
            </a:r>
          </a:p>
          <a:p>
            <a:r>
              <a:t>Access — partners open doors you can't. Distribution, trust, credibility.</a:t>
            </a:r>
          </a:p>
          <a:p>
            <a:r>
              <a:t>&gt;</a:t>
            </a:r>
          </a:p>
          <a:p>
            <a:r>
              <a:t>And serendipity — the best partnerships often appear when you're not looking. But you have to be open to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"Shopee: Instead of building their own delivery fleet in every SEA country — which would take years and billions — they partnered with local logistics companies. Launch in months, not years.</a:t>
            </a:r>
          </a:p>
          <a:p>
            <a:r>
              <a:t>&gt;</a:t>
            </a:r>
          </a:p>
          <a:p>
            <a:r>
              <a:t>Carousell: Partnered with Singtel for user acquisition. Millions of users without spending a dollar on ads.</a:t>
            </a:r>
          </a:p>
          <a:p>
            <a:r>
              <a:t>&gt;</a:t>
            </a:r>
          </a:p>
          <a:p>
            <a:r>
              <a:t>Stripe: Didn't go door-to-door selling payment processing. They partnered with Shopify and WooCommerce — and instantly reached millions of merchants.</a:t>
            </a:r>
          </a:p>
          <a:p>
            <a:r>
              <a:t>&gt;</a:t>
            </a:r>
          </a:p>
          <a:p>
            <a:r>
              <a:t>The question is always: 'Who already has what I want?'"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"Principle four: Lemonade. 'Embrace surprises — turn bad news into opportunity.'</a:t>
            </a:r>
          </a:p>
          <a:p>
            <a:r>
              <a:t>&gt;</a:t>
            </a:r>
          </a:p>
          <a:p>
            <a:r>
              <a:t>When your plan doesn't work, the instinct is to think you've failed. Expert entrepreneurs reframe surprise as data. As discovery.</a:t>
            </a:r>
          </a:p>
          <a:p>
            <a:r>
              <a:t>&gt;</a:t>
            </a:r>
          </a:p>
          <a:p>
            <a:r>
              <a:t>The question is: 'That didn't work — what did I just learn?'"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"Think about it: if your plan went exactly as predicted — you learned nothing new. You just confirmed what you already knew.</a:t>
            </a:r>
          </a:p>
          <a:p>
            <a:r>
              <a:t>&gt;</a:t>
            </a:r>
          </a:p>
          <a:p>
            <a:r>
              <a:t>An unexpected outcome? That's pure discovery. The predictable plan would never have shown you that.</a:t>
            </a:r>
          </a:p>
          <a:p>
            <a:r>
              <a:t>&gt;</a:t>
            </a:r>
          </a:p>
          <a:p>
            <a:r>
              <a:t>When you shift from 'I was wrong' to 'I now know something I didn't know before' — that's when you can make lemonade."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"Post-it Notes: 3M was trying to create a super-strong glue. They failed. What they got was a weak, reusable adhesive. That 'failure' became a billion-dollar product.</a:t>
            </a:r>
          </a:p>
          <a:p>
            <a:r>
              <a:t>&gt;</a:t>
            </a:r>
          </a:p>
          <a:p>
            <a:r>
              <a:t>Slack: A failed video game called Glitch. The team built an internal chat tool while the game crashed. That chat tool became Slack — acquired for $27 billion.</a:t>
            </a:r>
          </a:p>
          <a:p>
            <a:r>
              <a:t>&gt;</a:t>
            </a:r>
          </a:p>
          <a:p>
            <a:r>
              <a:t>COVID in Singapore: dine-in was banned overnight. F&amp;B owners who saw it as a death sentence struggled. Those who said 'how do I do delivery better than before?' — some ended up more profitable.</a:t>
            </a:r>
          </a:p>
          <a:p>
            <a:r>
              <a:t>&gt;</a:t>
            </a:r>
          </a:p>
          <a:p>
            <a:r>
              <a:t>Same event. Different interpretation. The outcome didn't change — your mindset did."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"Principle five: Pilot-in-the-Plane. Focus on what you can control, not on predicting the future.</a:t>
            </a:r>
          </a:p>
          <a:p>
            <a:r>
              <a:t>&gt;</a:t>
            </a:r>
          </a:p>
          <a:p>
            <a:r>
              <a:t>The causation trap is thinking you need to predict the market before you act. That leads to paralysis by analysis.</a:t>
            </a:r>
          </a:p>
          <a:p>
            <a:r>
              <a:t>&gt;</a:t>
            </a:r>
          </a:p>
          <a:p>
            <a:r>
              <a:t>Expert entrepreneurs focus on what they can control right now. Act first. Learn from the action. Adjust and repeat."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"Let's be honest about what you can and cannot control.</a:t>
            </a:r>
          </a:p>
          <a:p>
            <a:r>
              <a:t>&gt;</a:t>
            </a:r>
          </a:p>
          <a:p>
            <a:r>
              <a:t>You can't control the economy, your competitors, market trends, or VC funding cycles. If you wait for all of those to be perfect — you'll wait forever.</a:t>
            </a:r>
          </a:p>
          <a:p>
            <a:r>
              <a:t>&gt;</a:t>
            </a:r>
          </a:p>
          <a:p>
            <a:r>
              <a:t>But you CAN control your effort today. Who you talk to. What you build this week. How you spend your time.</a:t>
            </a:r>
          </a:p>
          <a:p>
            <a:r>
              <a:t>&gt;</a:t>
            </a:r>
          </a:p>
          <a:p>
            <a:r>
              <a:t>Predictions are guesses. Actions are facts. Choose facts."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"Grab: Anthony Tan couldn't predict if Malaysian taxi drivers would adopt a booking app. So he didn't try. He controlled what he could — he signed one driver, tested the dispatch system, and proved demand.</a:t>
            </a:r>
          </a:p>
          <a:p>
            <a:r>
              <a:t>&gt;</a:t>
            </a:r>
          </a:p>
          <a:p>
            <a:r>
              <a:t>Airbnb: Brian Chesky couldn't predict if strangers would rent out their homes. He controlled what he could — he built one listing, took the photos himself, and stayed with the first guests to learn.</a:t>
            </a:r>
          </a:p>
          <a:p>
            <a:r>
              <a:t>&gt;</a:t>
            </a:r>
          </a:p>
          <a:p>
            <a:r>
              <a:t>For you: you can't predict if your idea will work. But you CAN control interviewing 5 people tomorrow."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"Look at the difference. In 3 weeks of action — interviews, pivots, a simple MVP — you get real feedback. Real data. Real progress.</a:t>
            </a:r>
          </a:p>
          <a:p>
            <a:r>
              <a:t>&gt;</a:t>
            </a:r>
          </a:p>
          <a:p>
            <a:r>
              <a:t>vs. spending 3 months writing a business plan that nobody reads and that's based on guesses.</a:t>
            </a:r>
          </a:p>
          <a:p>
            <a:r>
              <a:t>&gt;</a:t>
            </a:r>
          </a:p>
          <a:p>
            <a:r>
              <a:t>A pilot doesn't predict the weather. They just keep adjusting the controls moment by moment. That's what entrepreneurs 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summary/reference slide. Walk through each principle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how the five principles work together.</a:t>
            </a:r>
          </a:p>
          <a:p>
            <a:r>
              <a:t>&gt;</a:t>
            </a:r>
          </a:p>
          <a:p>
            <a:r>
              <a:t>Start with Bird-in-Hand: what do you have? Then apply Affordable Loss: what can you safely risk? Then Crazy Quilt: who can help fill the gaps?</a:t>
            </a:r>
          </a:p>
          <a:p>
            <a:r>
              <a:t>&gt;</a:t>
            </a:r>
          </a:p>
          <a:p>
            <a:r>
              <a:t>When something goes wrong — and it will — use Lemonade: what did I just learn? Then Pilot-in-the-Plane: what can I control and do next?</a:t>
            </a:r>
          </a:p>
          <a:p>
            <a:r>
              <a:t>&gt;</a:t>
            </a:r>
          </a:p>
          <a:p>
            <a:r>
              <a:t>Then repeat the loop. That's how expert entrepreneurs think. Not as a checklist, but as a cycle they run through constantly."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"Let's look at Carousell again — this time through ALL five principles.</a:t>
            </a:r>
          </a:p>
          <a:p>
            <a:r>
              <a:t>&gt;</a:t>
            </a:r>
          </a:p>
          <a:p>
            <a:r>
              <a:t>Already covered Bird-in-Hand and Affordable Loss.</a:t>
            </a:r>
          </a:p>
          <a:p>
            <a:r>
              <a:t>&gt;</a:t>
            </a:r>
          </a:p>
          <a:p>
            <a:r>
              <a:t>Crazy Quilt: they partnered with Singtel for growth. Lemonade: when growth slowed, they pivoted to include payments, cars, property. Pilot-in-the-Plane: they focused on user acquisition, not market predictions.</a:t>
            </a:r>
          </a:p>
          <a:p>
            <a:r>
              <a:t>&gt;</a:t>
            </a:r>
          </a:p>
          <a:p>
            <a:r>
              <a:t>One case study — all five principles visible."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"Your turn. In groups, take 3 minutes to identify which principles you see in Doctor Anywhere's journey. Write one sentence of evidence for each.</a:t>
            </a:r>
          </a:p>
          <a:p>
            <a:r>
              <a:t>&gt;</a:t>
            </a:r>
          </a:p>
          <a:p>
            <a:r>
              <a:t>Hint: Bird-in-Hand (founder's background), Affordable Loss (starting small), Crazy Quilt (insurance partners), Lemonade (COVID pivot), Pilot-in-the-Plane (building one feature at a time)."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 — Title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MIE2001 Foundations of Entrepreneurship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Week 2: Effectual Entrepreneurship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           Principles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           [Your Name]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    Singapore Institute of Technology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2 — The $5,000 Challenge (Hook — 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"You have $5,000 and two weeks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to start a business. What do you do?"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         [IMAGE: thinking student]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⚡ Most people: Research → Plan → Execute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⚡ Expert entrepreneurs: What do I have?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3 — Sarasvathy's Discovery (2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📊 How Expert Entrepreneurs Actually Think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Saras Sarasvathy — University of Virginia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Studied: 27 expert entrepreneurs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(15+ years experience, multiple exits)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Result: Experts don't think like managers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┌─────────────┐       ┌──────────────────┐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Causation  │  vs   │  Effectuation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(Novices)   │       │  (Experts)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Goal → Plan │       │ Means → Create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→ Execute   │       │ → Iterate 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└─────────────┘       └──────────────────┘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4 — The 5 Principles (30 sec overview)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Sarasvathy's 5 Effectuation Principles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1. 🐦 Bird-in-Hand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"Start with who you are, what you know,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and who you know"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2. 💰 Affordable Loss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"Invest only what you can afford to lose"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3. 🧩 Crazy Quilt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"Build partnerships, don't compete"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4. 🍋 Lemonade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"Embrace surprises — turn bad news into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opportunity"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5. ✈️ Pilot-in-the-Plane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"Focus on what you can control"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5 — Principle 1: Bird-in-Hand (Deep Dive)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🐦  Principle 1: Bird-in-Hand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"Start with who you are, what you know,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and who you know"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┌──────────────────────────────────────────┐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WHO I AM    │  WHAT I KNOW  │  WHO I KNOW│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│──────────────┼───────────────┼────────────│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Skills       │ Expertise     │ Network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Experience   │ Domains       │ Mentors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Personality  │ Hobbies       │ Partners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└──────────────────────────────────────────┘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🔑 Key insight: You don't need to find resources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— you already have them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5B — Bird-in-Hand: Why Counterintuitive (Lecture Extra)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🐦  Bird-in-Hand — Why It's Counterintuitive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Every business book tells you: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❌ Research first → Plan → Get funding → Start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Expert entrepreneurs do the opposite: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✅ Look inside → Ask "what do I have?" → Start now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You don't need to find resources.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You already have them.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5C — Bird-in-Hand: Guided Reflection (Lecture Extra)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🧠  Stop &amp; Think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What's ONE skill you have that people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around you don't?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What's ONE domain you understand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better than most?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Who's ONE person you could call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for help right now?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7F8C8D"/>
                </a:solidFill>
              </a:defRPr>
            </a:pPr>
            <a:r>
              <a:t>⏱ 30 seconds — write your answers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The answers ARE your starting resources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6 — Carousell Case Study (3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🇸🇬 Case: Carousell (2012)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Three NUS friends: Siu Rui, Marcus, Lucas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┌─────────────┬─────────────────────────┐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WHO I AM   │ Mobile developers +     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        │ Designers               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├─────────────┼─────────────────────────┤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WHAT I KNOW│ Marketplace UX from     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        │ previous projects       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├─────────────┼─────────────────────────┤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WHO I KNOW │ NUS classmates,         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        │ early adopters on campus │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└─────────────┴─────────────────────────┘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🚀 Result: First version built in a weekend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6C — Carousell: What Did They Tap Into? (Lecture Extra)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🔍  Let's Map Carousell's Bird-in-Hand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Siu Rui, Marcus, Lucas — NUS, 2012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+-----------------┬----------------------------+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WHO I AM     | Mobile developers +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| Designers                 |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├──────────────┼──────────────────────────┤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WHAT I KNOW  | Marketplace UX from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| previous projects         |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├──────────────┼──────────────────────────┤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WHO I KNOW   | NUS classmates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| (early buyers &amp; sellers)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+-----------------┴----------------------------+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No venture capital. No office. No 50-page plan.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Just: skills + knowledge + network = first version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built in a weekend.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"If Carousell founders started in their HDB flat,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why can't you?"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7 — Your Bird-in-Hand: 60 seconds (Interactive)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✏️ Your Bird-in-Hand: 60 seconds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"What is ONE resource you have right now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that could be the starting point of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a venture?" 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It could be: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🟦 Skills — code, design, write, speak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🟩 Knowledge — an industry you understand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🟥 Network — someone who could help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🟨 Assets — a tool, space, platform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⏱ 60 seconds — write it down.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Be real, not perfect.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8 — Transition to Affordable Loss (30 sec)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"But what about risk?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'Bird-in-Hand sounds good, but what if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I lose everything I have?'"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❓ That's the #1 question I get from students.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⬇️ Next: Principle 2 — Affordable Loss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9 — The Myth of the Fearless Entrepreneur (30 sec)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🎭 The Myth: Entrepreneurs are fearless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risk-takers. "Bet the house. Go all in."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🧠 The Reality: Expert entrepreneurs are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very careful — they just calculate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risk differently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10 — Principle 2: Affordable Loss (Deep Dive, 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💰  Principle 2: Affordable Loss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"Invest only what you can afford to lose"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┌──────────────────────────────────────────────┐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❌ Traditional thinking:               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"How much could I MAKE?"              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→ Project millions → Overspend → Burn 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└──────────────────────────────────────────────┘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┌──────────────────────────────────────────────┐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✅ Effectual thinking:                 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"What's the MOST I could LOSE?"        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│   → Cap downside → Take smart risks → Go     │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└──────────────────────────────────────────────┘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11 — Dyson Example (Corrected Source)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🔬 James Dyson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    5,127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 failed prototypes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(15 years, hand-made)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Each prototype cost a small, survivable amount.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He never bet more than he could afford to lose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at any single step.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Source: Dyson, NYMag / Gizmodo Interviews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(2011, 2016)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🔑 Affordable Loss = Permission to keep failing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until you get it right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11.5 — Airbnb (Backup — Extra Example)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🥣  Airbnb (2008)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Brian Chesky &amp; Joe Gebbia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Situation: $40,000 in credit card debt.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Investors: all said no.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Their Affordable Loss move: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Bought $20 of cereal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Made "Obama O's" &amp; "Cap'n McCain's" boxes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Sold at Democratic Convention for $40 each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Each box cost &lt;$5 to make.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Raised $30,000 = 3 more months of runway.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Source: Brian Chesky, Stanford GSB talk (CNBC, 2023)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11.6 — Grab (Backup — Extra Example)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🚕  Grab (2012)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Anthony Tan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He didn't start with all of Southeast Asia.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His Affordable Loss: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1 taxi driver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1 route (KLIA → city center)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A simple dispatch app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→ Weekend time only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Proved demand → scaled gradually.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Never risked more than he could recover from.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Source: Grab official story, NLB Singapore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12 — Your Affordable Loss: 60 seconds (Interactive, 3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✏️ Your Affordable Loss: 60 seconds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"What's the most YOU could invest —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without it actually hurting you?"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💵 Money:  $_______ per month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⏰ Time:  _______ hours per week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• 🫂 Ego:   How much rejection can you take?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Be honest. Not aspirational.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If it's $50 and 2 hours a week — write that.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⏱ 60 seconds — calculate it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13 — Know Your Number (Revised)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🎯  Know Your Number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Affordable Loss is personal.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Yours is different from the person next to you.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┌──────────────────────────────────────┐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💵 Money: Whatever you can lose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without losing sleep at night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⏰ Time: Whatever you can give  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without your grades suffering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🫂 Ego: Whatever discomfort you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can handle without giving up       │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└──────────────────────────────────────┘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🔑 Not about how MUCH you have.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It's about knowing YOUR limit.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Define it → Own it → Start free.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14 — Bird-in-Hand + Affordable Loss (2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🐦 Bird-in-Hand  +  💰 Affordable Loss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┌──────────────────────────────────────────┐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"What do I have?"                   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"What can I afford to lose?"        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       =                            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Permission to START NOW             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│  with what you already have               │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└──────────────────────────────────────────┘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This is the foundation for everything else this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semester.      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15 — Session Recap (1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📋 Session Recap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Sarasvathy's Discovery: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Expert entrepreneurs ≠ Managers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Causation vs. Effectuation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5 Principles of Effectuation: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🐦 Bird-in-Hand   🧩 Crazy Quilt   ✈️ Pilot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💰 Affordable Loss   🍋 Lemonade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——————————————————————————————————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Today we went deep on the first TWO: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The foundation for everything else.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🐦 Bird-in-Hand: Start with what you have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→ Carousell: three friends, weekend, $0 launch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💰 Affordable Loss: Cap downside. Take smart risks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→ Dyson: 5,127 failures → $1B+ company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Weeks 4, 6, 8 → Other 3 principles in context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16 — One Sentence to Remember (30 sec)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✨ Don't ask:  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"What do I NEED?"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Ask:         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"What do I HAVE?"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[IMAGE: Mirror reflection]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17 — Next Week &amp; Homework (30 sec)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📅 Next Week: Design Thinking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Stanford d.school 5-stage model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Mini design sprint — solve a campus problem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📝 Homework (due Friday):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"Apply one effectuation principle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to a decision you made this week"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— 250 words, submit via LMS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📖 Reading: "What Makes Entrepreneurs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Entrepreneurial?" — Sarasvathy (HBR)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🤝 Team formation: Start finding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teammates with different skills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18 — Thank You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  Thank You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[Your Name]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[Email]           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[SIT / Department]       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"Don't ask 'what do I need?'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║          Ask 'what do I have?'"                      ║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P3-1 — Principle 3: Crazy Quilt Intro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🧩  Principle 3: Crazy Quilt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"Build partnerships before you compete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— even with strangers"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Tagline: Who can HELP me?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(Not: who can I beat?)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traditional approach:</a:t>
            </a:r>
          </a:p>
          <a:p>
            <a:pPr>
              <a:spcAft>
                <a:spcPts val="400"/>
              </a:spcAft>
              <a:defRPr sz="1300">
                <a:solidFill>
                  <a:srgbClr val="E74C3C"/>
                </a:solidFill>
              </a:defRPr>
            </a:pPr>
            <a:r>
              <a:t>❌ "I need to own everything myself"</a:t>
            </a:r>
          </a:p>
          <a:p>
            <a:pPr>
              <a:spcAft>
                <a:spcPts val="400"/>
              </a:spcAft>
              <a:defRPr sz="1300">
                <a:solidFill>
                  <a:srgbClr val="E74C3C"/>
                </a:solidFill>
              </a:defRPr>
            </a:pPr>
            <a:r>
              <a:t>❌ "Partnerships are for later, after I prove myself"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effectual approach:</a:t>
            </a:r>
          </a:p>
          <a:p>
            <a:pPr>
              <a:spcAft>
                <a:spcPts val="400"/>
              </a:spcAft>
              <a:defRPr sz="1300">
                <a:solidFill>
                  <a:srgbClr val="27AE60"/>
                </a:solidFill>
              </a:defRPr>
            </a:pPr>
            <a:r>
              <a:t>✅ "Who already has what I need?"</a:t>
            </a:r>
          </a:p>
          <a:p>
            <a:pPr>
              <a:spcAft>
                <a:spcPts val="400"/>
              </a:spcAft>
              <a:defRPr sz="1300">
                <a:solidFill>
                  <a:srgbClr val="27AE60"/>
                </a:solidFill>
              </a:defRPr>
            </a:pPr>
            <a:r>
              <a:t>✅ "How can we create value TOGETHER?"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P3-2 — Why Crazy Quilt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🧩  Why Crazy Quilt?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1. Speed: Partners bring existing resources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Skip the building phase, go straight to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value creation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2. Shared risk: You don't carry everything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Each partner invests a bit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Everyone's affordable loss stays small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3. Access: Partners open doors you can't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Distribution, trust, credibility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4. Serendipity: The best partners often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appear when you're NOT looking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P3-3 — Crazy Quilt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🧩  Crazy Quilt in Action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🇸🇬 Shopee: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Instead of building their own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delivery fleet in every country,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they partnered with local logistics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companies. → Launch in months, not yrs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🇸🇬 Carousell: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Partnered with Singtel for user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acquisition. → Millions of users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without spending on ads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🌍 Stripe: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Partnered with Shopify, WooCommerce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Built-in distribution to millions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of merchants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"Who already has what I want?"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P3-4 — Exercise: Think About Your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🧩  Think About Your Network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Think of 5 people or organizations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who could help you with a venture idea.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Examples: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A classmate with complementary skills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A professor with industry connections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A family friend who runs a business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The SIT Innovation &amp; Entrepreneurship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Office 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An organization you volunteered for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7F8C8D"/>
                </a:solidFill>
              </a:defRPr>
            </a:pPr>
            <a:r>
              <a:t>⏱ 2 minutes — write down names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The answer to "who can help me?"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is often in your phone contacts.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P3-5 — Making 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🧩  Making the Ask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You have their names. Now what?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1. What VALUE can you offer THEM?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(Partnership is two-way)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2. What's the SMALLEST ask you can make?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(Low barrier = higher success)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"Can I get 15 minutes of your time?"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"Would you review one idea?"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3. How do you follow up?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48 hours after meeting, send a note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Reference something they said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Partnerships start with small requests,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not big commitments.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P4-1 — Principle 4: Lemonade Intro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🍋  Principle 4: Lemonade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"Embrace surprises — turn bad news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into opportunity"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Tagline: When life gives you lemons...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traditional reaction:</a:t>
            </a:r>
          </a:p>
          <a:p>
            <a:pPr>
              <a:spcAft>
                <a:spcPts val="400"/>
              </a:spcAft>
              <a:defRPr sz="1300">
                <a:solidFill>
                  <a:srgbClr val="E74C3C"/>
                </a:solidFill>
              </a:defRPr>
            </a:pPr>
            <a:r>
              <a:t>❌ Surprise = problem = failure</a:t>
            </a:r>
          </a:p>
          <a:p>
            <a:pPr>
              <a:spcAft>
                <a:spcPts val="400"/>
              </a:spcAft>
              <a:defRPr sz="1300">
                <a:solidFill>
                  <a:srgbClr val="E74C3C"/>
                </a:solidFill>
              </a:defRPr>
            </a:pPr>
            <a:r>
              <a:t>❌ "My plan didn't work, so I'm done"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effectual reaction:</a:t>
            </a:r>
          </a:p>
          <a:p>
            <a:pPr>
              <a:spcAft>
                <a:spcPts val="400"/>
              </a:spcAft>
              <a:defRPr sz="1300">
                <a:solidFill>
                  <a:srgbClr val="27AE60"/>
                </a:solidFill>
              </a:defRPr>
            </a:pPr>
            <a:r>
              <a:t>✅ Surprise = data = discovery</a:t>
            </a:r>
          </a:p>
          <a:p>
            <a:pPr>
              <a:spcAft>
                <a:spcPts val="400"/>
              </a:spcAft>
              <a:defRPr sz="1300">
                <a:solidFill>
                  <a:srgbClr val="27AE60"/>
                </a:solidFill>
              </a:defRPr>
            </a:pPr>
            <a:r>
              <a:t>✅ "That didn't work — what DID I learn?"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P4-2 — The Psychology of Surprise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🍋  Why Surprises Are Valuable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A predictable outcome = you learned nothing new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An unexpected outcome = you just discovered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something the predictable plan would never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have shown you 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+-----------------------------------------------+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| Surprises are not problems to avoid.     |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| They are opportunities to discover.      |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+-----------------------------------------------+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Key mindset shift: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"I was wrong" → "I now know something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I didn't know before. That's progress."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P4-3 — Lemonade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🍋  Lemonade in Action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📌 Post-it Notes (3M)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Failed attempt: super-strong glue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Discovery: weak, reusable adhesive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Lemonade: Post-it Notes → $1B+ product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📌 Slack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Failed: video game "Glitch"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Discovery: team built internal chat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Lemonade: Slack → $27B exit to Salesf.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📌 COVID Singapore F&amp;B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Crisis: dine-in banned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Pivot: delivery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Lemonade: some made MORE profit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The outcome didn't change.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Your INTERPRETATION of it did.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P4-4 — Exercise: Think of a Recent Surprise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🍋  Think of a Recent Surprise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Think of something that didn't go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as planned this MONTH.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Could be: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A project that got rejected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Plans that fell through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Something unexpected that happened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Now ask yourself: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"What could this UNLOCK if I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changed how I see it?"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7F8C8D"/>
                </a:solidFill>
              </a:defRPr>
            </a:pPr>
            <a:r>
              <a:t>⏱ 2 minutes — write it down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One reframe can change everything.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P4-5 — From "Problem" to "Experiment"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🍋  From "Problem" to "Experiment"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❌ "My launch failed — I'm a failure"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✅ "My launch didn't work — now I know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what doesn't work. That's progress."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❌ "Nobody signed up — the idea is dead"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✅ "Nobody signed up — let me test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a different value proposition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before giving up"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The Lemonade Principle turns: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"I failed" → "I learned"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"That's a problem" → "That's data"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"I should stop" → "Let me try differently"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P5-1 — Principle 5: Pilot-in-the-Plane Intro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✈️  Principle 5: Pilot-in-the-Plane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"Focus on what you CAN control,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not on predicting the future"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Tagline: Don't forecast. Act.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causation trap: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❌ "Let me predict the market → then decide"</a:t>
            </a:r>
          </a:p>
          <a:p>
            <a:pPr>
              <a:spcAft>
                <a:spcPts val="400"/>
              </a:spcAft>
              <a:defRPr sz="1300">
                <a:solidFill>
                  <a:srgbClr val="E74C3C"/>
                </a:solidFill>
              </a:defRPr>
            </a:pPr>
            <a:r>
              <a:t>❌ Paralysis by analysis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 effectual approach:</a:t>
            </a:r>
          </a:p>
          <a:p>
            <a:pPr>
              <a:spcAft>
                <a:spcPts val="400"/>
              </a:spcAft>
              <a:defRPr sz="1300">
                <a:solidFill>
                  <a:srgbClr val="27AE60"/>
                </a:solidFill>
              </a:defRPr>
            </a:pPr>
            <a:r>
              <a:t>✅ "What can I control RIGHT NOW?"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✅ Act → Learn → Adjust → Repeat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P5-2 — Control vs. Prediction Mindset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✈️  What You Control vs. What You Don't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+-------------------------┬------------------------+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❌ I CANNOT CONTROL |  ✅ I CAN CONTROL     |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├──────────────────────┼──────────────────────┤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The economy          | My effort today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My competitors       | Who I talk to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Market trends        | What I build this wk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VC funding cycles    | How I spend my time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Customer decisions   | What questions I ask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Luck                 | How I respond to bad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| news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+-------------------------┴------------------------+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"Predictions are guesses.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Actions are facts."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P5-3 — Pilot-in-the-Plane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✈️  Pilot-in-the-Plane in Action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🇸🇬 Grab: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Couldn't predict if drivers would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adopt a booking app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Controlled: signed ONE driver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Tested dispatch with 10 calls/day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Proved demand → Scaled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🌍 Airbnb: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Couldn't predict if strangers would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share living space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Controlled: built ONE listing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Took photos themselves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Stayed with first guests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🧑‍🎓 You: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Can't predict if your idea will work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Can control: interview 5 people TOMORROW|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Start with one unit of action.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Prove it. Then scale.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P5-4 — Exercise: Your Next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✈️  Your Next Action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Think of ONE venture idea or project.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Now answer: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"What's ONE thing I can do TODAY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to move this forward?"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Keep it small. Keep it real. Keep it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within your control.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Examples: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Send one email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Sketch one wireframe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Write down 3 interview questions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• Talk to one person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7F8C8D"/>
                </a:solidFill>
              </a:defRPr>
            </a:pPr>
            <a:r>
              <a:t>⏱ 2 minutes — write your ONE action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🔑 One small action today &gt;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One perfect plan next month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P5-5 — Why Small Actions Compound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✈️  Action Beats Prediction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Week 1: "I'll interview 3 potential customers"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Learn they don't care about your feature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Pivot before building anything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Week 2: "I'll test a different angle"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2 out of 3 are interested now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You're onto something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Week 3: "I'll build the simplest MVP"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First user signs up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→ They tell their friends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vs. Spending 3 months on a business plan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that nobody reads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The pilot doesn't predict the weather.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They adjust the controls moment by moment.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INT-1 — The 5 Principles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📋  The 5 Effectuation Principles — At a Glance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🐦  Bird-in-Hand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"Start with who you are, what you know,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and who you know"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You already have everything to begin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💰  Affordable Loss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"Invest only what you can afford to lose"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Cap downside. Free yourself to act.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🧩  Crazy Quilt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"Build partnerships, don't compete"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Who can help you? Ask.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🍋  Lemonade   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"Embrace surprises as opportunity"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Failed plan = new data, not failure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✈️  Pilot-in-the-Plane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"Focus on what you can control"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→ Don't forecast. Act.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+-------------------------------------------------------+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INT-2 — How the 5 Principles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🔗  How the 5 Principles Work Together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🐦 Bird-in-Hand: Look at what you have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  ▼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💰 Affordable Loss: What can you safely risk?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  ▼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🧩 Crazy Quilt: Who can help you fill the gaps?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  ▼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🍋 Lemonade: Something went wrong? Good — learn.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  ▼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✈️ Pilot-in-the-Plane: What can I control NEXT?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   ▼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                  REPEAT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It's a cycle, not a checklist.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Entrepreneurs run through this loop constantly.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INT-3 — Carousell Through All 5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🔍  Carousell — All 5 Principles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🐦 Bird-in-Hand: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Mobile dev skills + marketplace UX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+ NUS network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💰 Affordable Loss: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Built first version in a weekend.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No funding needed.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🧩 Crazy Quilt: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Partnered with Singtel for growth.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Partnered with Carousell sellers =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built-in inventory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🍋 Lemonade: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When growth slowed → pivoted to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include payments, cars, property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✈️ Pilot-in-the-Plane: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Focused on user acquisition, not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  market predictions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F39C12"/>
                </a:solidFill>
              </a:defRPr>
            </a:pPr>
            <a:r>
              <a:t>💡 One case — 5 principles visible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INT-4 — Interactive: Spot the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b="1" sz="2000">
                <a:solidFill>
                  <a:srgbClr val="2C3E50"/>
                </a:solidFill>
              </a:defRPr>
            </a:pPr>
            <a:r>
              <a:t>🧠  Your Turn — Spot the Principles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Case: Doctor Anywhere (Singapore, 2017)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Founded by Wai Mun Wong.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Started as telemedicine for minor illnesses.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During COVID, demand exploded.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In your groups (3 min):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Which effectuation principles can you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identify in Doctor Anywhere's journey?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For each one, write ONE sentence of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| evidence.                  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7F8C8D"/>
                </a:solidFill>
              </a:defRPr>
            </a:pPr>
            <a:r>
              <a:t>+-------------------------------------------------+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b="1" sz="1400">
                <a:solidFill>
                  <a:srgbClr val="7F8C8D"/>
                </a:solidFill>
              </a:defRPr>
            </a:pPr>
            <a:r>
              <a:t>⏱ 3 minutes — discuss with your partner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400"/>
              </a:spcAft>
              <a:defRPr sz="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